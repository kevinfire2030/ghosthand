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82" r:id="rId4"/>
  </p:sldMasterIdLst>
  <p:notesMasterIdLst>
    <p:notesMasterId r:id="rId9"/>
  </p:notesMasterIdLst>
  <p:handoutMasterIdLst>
    <p:handoutMasterId r:id="rId10"/>
  </p:handoutMasterIdLst>
  <p:sldIdLst>
    <p:sldId id="277" r:id="rId5"/>
    <p:sldId id="278" r:id="rId6"/>
    <p:sldId id="279" r:id="rId7"/>
    <p:sldId id="280" r:id="rId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41"/>
      </p:cViewPr>
      <p:guideLst>
        <p:guide orient="horz" pos="2160"/>
        <p:guide pos="21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8CA0B6D-3793-46B4-99F6-5076F711A2F9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2026-04-22(Wed)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A45484C-7992-44E9-9002-213D76072A0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59216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982D051-E7AC-4810-90EF-69A20AD37526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24A772-5D94-4F12-8B86-44D4FB26368F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88420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6796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3778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6157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524A772-5D94-4F12-8B86-44D4FB26368F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73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2207E-CB41-4C91-B7CD-77F94AAA1D8A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0173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D295-1BE8-4422-BBA3-4C4166E1FFBA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703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F889-CF6D-48B4-9DBA-7DAFA8901B75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783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58CB5-B5AE-4D5E-9590-3F33817D9FD0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59697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D2EB9-DB8A-41FB-9C3A-C831B0BB6AA9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0D3B1-2164-4F34-BF9E-E14C52C38144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8314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58CB5-B5AE-4D5E-9590-3F33817D9FD0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380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2C05C-C40A-4C9C-84B1-0ECF8370CE26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3354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12BA4-0DC9-4120-89EB-458D19650DFC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779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2ECF5-B670-4E41-8562-EC4E8C060A69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5605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86E99-FDF3-4278-8385-23074F8A8372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6248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58CB5-B5AE-4D5E-9590-3F33817D9FD0}" type="datetime1">
              <a:rPr lang="ko-KR" altLang="en-US" smtClean="0"/>
              <a:pPr/>
              <a:t>2026-04-22(Wed)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233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ldmosaic.sec.samsung.net/kms/dx_ax_usecase.clu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xaioffice@samsung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6">
            <a:extLst>
              <a:ext uri="{FF2B5EF4-FFF2-40B4-BE49-F238E27FC236}">
                <a16:creationId xmlns:a16="http://schemas.microsoft.com/office/drawing/2014/main" id="{9D7C0BE1-1C74-8753-F6FC-5A273FD2BA50}"/>
              </a:ext>
            </a:extLst>
          </p:cNvPr>
          <p:cNvSpPr/>
          <p:nvPr/>
        </p:nvSpPr>
        <p:spPr>
          <a:xfrm flipV="1">
            <a:off x="6217395" y="1860351"/>
            <a:ext cx="5633764" cy="4769048"/>
          </a:xfrm>
          <a:prstGeom prst="round2SameRect">
            <a:avLst>
              <a:gd name="adj1" fmla="val 1819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OneKoreanOTF 500"/>
              <a:ea typeface="SamsungOneKoreanOTF 500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12184380" cy="7573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 txBox="1">
            <a:spLocks/>
          </p:cNvSpPr>
          <p:nvPr/>
        </p:nvSpPr>
        <p:spPr>
          <a:xfrm>
            <a:off x="345353" y="73888"/>
            <a:ext cx="8174971" cy="757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Crew </a:t>
            </a:r>
            <a:r>
              <a:rPr lang="ko-KR" altLang="en-US" sz="32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역할과 활동</a:t>
            </a:r>
            <a:endParaRPr lang="en-US" altLang="ko-KR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605" y="923688"/>
            <a:ext cx="8668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□ 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Crew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는 소속 부서의 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과제를 관리하고 사업부 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기여를 지원하는 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Facilitator</a:t>
            </a:r>
            <a:endParaRPr lang="en-US" altLang="ko-KR" sz="1600" b="1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2" name="Rectangle: Rounded Corners 6">
            <a:extLst>
              <a:ext uri="{FF2B5EF4-FFF2-40B4-BE49-F238E27FC236}">
                <a16:creationId xmlns:a16="http://schemas.microsoft.com/office/drawing/2014/main" id="{8B6672E0-226C-8C35-3FF9-E9A1792BE361}"/>
              </a:ext>
            </a:extLst>
          </p:cNvPr>
          <p:cNvSpPr/>
          <p:nvPr/>
        </p:nvSpPr>
        <p:spPr>
          <a:xfrm>
            <a:off x="360922" y="1389467"/>
            <a:ext cx="5640266" cy="470887"/>
          </a:xfrm>
          <a:prstGeom prst="round2SameRect">
            <a:avLst/>
          </a:prstGeom>
          <a:solidFill>
            <a:srgbClr val="001A86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 smtClean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요청 활동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Rectangle: Rounded Corners 6">
            <a:extLst>
              <a:ext uri="{FF2B5EF4-FFF2-40B4-BE49-F238E27FC236}">
                <a16:creationId xmlns:a16="http://schemas.microsoft.com/office/drawing/2014/main" id="{9D7C0BE1-1C74-8753-F6FC-5A273FD2BA50}"/>
              </a:ext>
            </a:extLst>
          </p:cNvPr>
          <p:cNvSpPr/>
          <p:nvPr/>
        </p:nvSpPr>
        <p:spPr>
          <a:xfrm flipV="1">
            <a:off x="360922" y="1860406"/>
            <a:ext cx="5640266" cy="4768992"/>
          </a:xfrm>
          <a:prstGeom prst="round2SameRect">
            <a:avLst>
              <a:gd name="adj1" fmla="val 1819"/>
              <a:gd name="adj2" fmla="val 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msungOneKoreanOTF 500"/>
              <a:ea typeface="SamsungOneKoreanOTF 500"/>
              <a:cs typeface="+mn-cs"/>
            </a:endParaRPr>
          </a:p>
        </p:txBody>
      </p:sp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1FEAB286-A425-EAFF-C2FA-B789E8F8EDB0}"/>
              </a:ext>
            </a:extLst>
          </p:cNvPr>
          <p:cNvSpPr/>
          <p:nvPr/>
        </p:nvSpPr>
        <p:spPr>
          <a:xfrm>
            <a:off x="6210893" y="1389467"/>
            <a:ext cx="5640266" cy="470887"/>
          </a:xfrm>
          <a:prstGeom prst="round2SameRect">
            <a:avLst/>
          </a:prstGeom>
          <a:solidFill>
            <a:srgbClr val="001A86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MBO </a:t>
            </a:r>
            <a:r>
              <a:rPr lang="ko-KR" altLang="en-US" sz="1600" b="1" dirty="0" smtClean="0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가이드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9587" y="2060319"/>
            <a:ext cx="548522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부서내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파악 </a:t>
            </a: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부서내 모든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과제는 아래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'AX </a:t>
            </a:r>
            <a:r>
              <a:rPr lang="en-US" altLang="ko-KR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usecase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성과 관리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모자익에서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관리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endParaRPr lang="ko-KR" altLang="en-US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→ 과제 등록과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이후 경과 및 성과를 월 단위로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crew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입력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관리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 (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관리 매뉴얼은 추후 별도 배포 예정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https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://oldmosaic.sec.samsung.net/kms/dx_ax_usecase.club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활성화 지원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부서內 과제 중 선정하여 부서장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포함 팀 전원에게 월별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메일 소식지 발송 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매월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마지막주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목요일 공유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‘MX AX PM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그룹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-US" altLang="ko-KR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mxaioffice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)‘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참조 포함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부서원의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‘Gen AI lv3’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취득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현황 점검 및 지원</a:t>
            </a: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포털인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Hub ('26/4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月 오픈 예정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안내 및 활성화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지원 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→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Hub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접속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댓글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독려</a:t>
            </a:r>
          </a:p>
          <a:p>
            <a:endParaRPr lang="ko-KR" altLang="en-US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인프라 개선 지원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부서內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가능 데이터 등급 현황 관리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분기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사내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內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데이터를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할 수 있도록  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MCP/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스킬셋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구성 지원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운영 주관 부서 限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 외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팀에서 요청하는 현황 파악 및 설문 요청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4916" y="2060319"/>
            <a:ext cx="54852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부서내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파악 </a:t>
            </a: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부서내 모든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과제는 아래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'AX </a:t>
            </a:r>
            <a:r>
              <a:rPr lang="en-US" altLang="ko-KR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usecase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성과 관리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'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모자익에서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관리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평가기준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관리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이행율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및 과제 내역 적확도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모자익상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등록 과제 정기 점검</a:t>
            </a: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활성화 지원 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부서內 과제 중 선정하여 부서장 포함 팀 전원에게 월별 메일 소식지 발송 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평가기준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소식지 발송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이행율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월별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발송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현황 자체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집계  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부서원의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‘Gen AI lv3’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취득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현황 점검 및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지원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평가기준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 전체 인력의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‘Gen AI lv3’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취득 내역 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부서원의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 AI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lv3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취득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상승율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포털인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Hub ('26/4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月 오픈 예정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안내 및 활성화 지원</a:t>
            </a: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평가기준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 전체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인력수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대비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Hub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방문 인원 비율 및 기여도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「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Hub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」 접속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댓글 현황</a:t>
            </a:r>
          </a:p>
          <a:p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인프라 개선 지원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 內 외부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가능 데이터 등급 현황 관리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분기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회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평가기준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추후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전사 세부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가이드 공지 예정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추후 전사 세부 가이드 공지 예정</a:t>
            </a:r>
          </a:p>
          <a:p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사내 시스템 內 데이터를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할 수 있도록 </a:t>
            </a:r>
            <a:endParaRPr lang="en-US" altLang="ko-KR" sz="1200" dirty="0" smtClean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MCP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스킬셋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구성 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지원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 운영 주관 부서 限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평가기준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소속 부서 운영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주관 데이터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시스템의 </a:t>
            </a:r>
            <a:r>
              <a:rPr lang="en-US" altLang="ko-KR" sz="105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DataHub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연계 및 </a:t>
            </a:r>
            <a:r>
              <a:rPr lang="en-US" altLang="ko-KR" sz="105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MCP </a:t>
            </a:r>
            <a:r>
              <a:rPr lang="ko-KR" altLang="en-US" sz="105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구현율</a:t>
            </a:r>
            <a:endParaRPr lang="en-US" altLang="ko-KR" sz="105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     </a:t>
            </a:r>
            <a:r>
              <a:rPr lang="ko-KR" altLang="en-US" sz="1200" dirty="0" err="1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증빙방법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ko-KR" altLang="en-US" sz="1200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추후 전사 세부 가이드 공지 예정 </a:t>
            </a:r>
            <a:r>
              <a:rPr lang="en-US" altLang="ko-KR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-US" altLang="ko-KR" sz="7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DataHub</a:t>
            </a:r>
            <a:r>
              <a:rPr lang="en-US" altLang="ko-KR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연계 데이터</a:t>
            </a:r>
            <a:r>
              <a:rPr lang="en-US" altLang="ko-KR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MCP </a:t>
            </a:r>
            <a:r>
              <a:rPr lang="ko-KR" altLang="en-US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연계 시스템 현황</a:t>
            </a:r>
            <a:r>
              <a:rPr lang="en-US" altLang="ko-KR" sz="7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ko-KR" altLang="en-US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2E3EBC17-B740-4F5E-8FD5-D749D9216DCB}"/>
              </a:ext>
            </a:extLst>
          </p:cNvPr>
          <p:cNvSpPr/>
          <p:nvPr/>
        </p:nvSpPr>
        <p:spPr>
          <a:xfrm>
            <a:off x="7980540" y="2081387"/>
            <a:ext cx="302612" cy="184197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marL="0" lvl="1" algn="ctr" latinLnBrk="0"/>
            <a:r>
              <a:rPr lang="en-US" altLang="ko-KR" sz="8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30%</a:t>
            </a:r>
            <a:endParaRPr lang="en-US" altLang="ko-KR" sz="8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4" name="Rectangle: Rounded Corners 5">
            <a:extLst>
              <a:ext uri="{FF2B5EF4-FFF2-40B4-BE49-F238E27FC236}">
                <a16:creationId xmlns:a16="http://schemas.microsoft.com/office/drawing/2014/main" id="{2E3EBC17-B740-4F5E-8FD5-D749D9216DCB}"/>
              </a:ext>
            </a:extLst>
          </p:cNvPr>
          <p:cNvSpPr/>
          <p:nvPr/>
        </p:nvSpPr>
        <p:spPr>
          <a:xfrm>
            <a:off x="7998616" y="2999928"/>
            <a:ext cx="302612" cy="184197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marL="0" lvl="1" algn="ctr" latinLnBrk="0"/>
            <a:r>
              <a:rPr lang="en-US" altLang="ko-KR" sz="8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en-US" altLang="ko-KR" sz="8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</a:t>
            </a:r>
            <a:r>
              <a:rPr lang="en-US" altLang="ko-KR" sz="8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%</a:t>
            </a:r>
            <a:endParaRPr lang="en-US" altLang="ko-KR" sz="8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5" name="Rectangle: Rounded Corners 5">
            <a:extLst>
              <a:ext uri="{FF2B5EF4-FFF2-40B4-BE49-F238E27FC236}">
                <a16:creationId xmlns:a16="http://schemas.microsoft.com/office/drawing/2014/main" id="{2E3EBC17-B740-4F5E-8FD5-D749D9216DCB}"/>
              </a:ext>
            </a:extLst>
          </p:cNvPr>
          <p:cNvSpPr/>
          <p:nvPr/>
        </p:nvSpPr>
        <p:spPr>
          <a:xfrm>
            <a:off x="7990788" y="5012965"/>
            <a:ext cx="302612" cy="184197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63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/>
          <a:lstStyle/>
          <a:p>
            <a:pPr marL="0" lvl="1" algn="ctr" latinLnBrk="0"/>
            <a:r>
              <a:rPr lang="en-US" altLang="ko-KR" sz="8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</a:t>
            </a:r>
            <a:r>
              <a:rPr lang="en-US" altLang="ko-KR" sz="8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%</a:t>
            </a:r>
            <a:endParaRPr lang="en-US" altLang="ko-KR" sz="8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355876" y="3737553"/>
            <a:ext cx="5348444" cy="2762307"/>
          </a:xfrm>
          <a:prstGeom prst="rect">
            <a:avLst/>
          </a:prstGeom>
          <a:noFill/>
          <a:ln w="25400">
            <a:solidFill>
              <a:srgbClr val="FF7C8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31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84380" cy="7573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 txBox="1">
            <a:spLocks/>
          </p:cNvSpPr>
          <p:nvPr/>
        </p:nvSpPr>
        <p:spPr>
          <a:xfrm>
            <a:off x="345353" y="73888"/>
            <a:ext cx="8174971" cy="757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FAQ</a:t>
            </a:r>
            <a:endParaRPr lang="en-US" altLang="ko-KR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8605" y="938928"/>
            <a:ext cx="8668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□ 추가 문의사항은 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MX AX PM </a:t>
            </a:r>
            <a:r>
              <a:rPr lang="ko-KR" altLang="en-US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그룹</a:t>
            </a:r>
            <a:r>
              <a:rPr lang="en-US" altLang="ko-KR" sz="16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  <a:hlinkClick r:id="rId3"/>
              </a:rPr>
              <a:t>mxaioffice@samsung.com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부탁드립니다</a:t>
            </a:r>
            <a:r>
              <a:rPr lang="en-US" altLang="ko-KR" sz="1600" b="1" dirty="0" smtClean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AD4D0C4-DECB-4919-8AB1-8CF541678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530476"/>
              </p:ext>
            </p:extLst>
          </p:nvPr>
        </p:nvGraphicFramePr>
        <p:xfrm>
          <a:off x="279533" y="1487093"/>
          <a:ext cx="11628000" cy="50527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936911199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5217593"/>
                    </a:ext>
                  </a:extLst>
                </a:gridCol>
                <a:gridCol w="6588000">
                  <a:extLst>
                    <a:ext uri="{9D8B030D-6E8A-4147-A177-3AD203B41FA5}">
                      <a16:colId xmlns:a16="http://schemas.microsoft.com/office/drawing/2014/main" val="3355853037"/>
                    </a:ext>
                  </a:extLst>
                </a:gridCol>
              </a:tblGrid>
              <a:tr h="385753">
                <a:tc>
                  <a:txBody>
                    <a:bodyPr/>
                    <a:lstStyle/>
                    <a:p>
                      <a:pPr indent="0" algn="ctr" latinLnBrk="1">
                        <a:spcAft>
                          <a:spcPts val="240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구분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400"/>
                        </a:spcAft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Q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400"/>
                        </a:spcAft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26140"/>
                  </a:ext>
                </a:extLst>
              </a:tr>
              <a:tr h="754244">
                <a:tc rowSpan="2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기준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MBO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추가 반영이 가능한가요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앞장의 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MBO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가이드 상에 명기된 합산 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에 해당하는 항목들은 필수적으로 반영하되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Crew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과제 직접 참여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나 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과제 성과 연동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의사가 있다면 </a:t>
                      </a:r>
                      <a:endParaRPr lang="en-US" altLang="ko-KR" sz="1050" b="0" kern="100" baseline="0" dirty="0" smtClean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부서장 협의하 최대 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100%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까지 유동적으로 설정 가능합니다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722309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부서에 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Crew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가 여러 명입니다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어떤 기준으로 평가되나요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공통 항목은 공통 적용되며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개인별 차별 항목은 차별 적용됩니다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870888"/>
                  </a:ext>
                </a:extLst>
              </a:tr>
              <a:tr h="38575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Hub </a:t>
                      </a: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 Hub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이용 데이터는 어떤 형태로 제공되나요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부서별 접속 인원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댓글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게시물수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및 전사 평균 데이터 일괄 제공 협의 중입니다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216878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단순 체류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불필요 게시물 작성 임직원을 제외할 수 있나요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286601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 Hub </a:t>
                      </a:r>
                      <a:r>
                        <a:rPr lang="ko-KR" altLang="en-US" sz="1050" b="0" kern="10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활동량이 아닌 질적인 기여도로 평가받을 수 있나요</a:t>
                      </a:r>
                      <a:r>
                        <a:rPr lang="en-US" altLang="ko-KR" sz="1050" b="0" kern="10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altLang="ko-KR" sz="1050" b="0" kern="10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시스템 론칭 초기로 금년 적용은 어렵습니다만 이후 검토해 보겠습니다</a:t>
                      </a: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050567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 Hub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회원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게시글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유형에 따른 배점 차등화가 가능한지요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308883"/>
                  </a:ext>
                </a:extLst>
              </a:tr>
              <a:tr h="385753">
                <a:tc rowSpan="3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데이터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팀에서 제공받을 수 있는 데이터는 어떤 것이 있나요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부서별 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교육 </a:t>
                      </a:r>
                      <a:r>
                        <a:rPr lang="ko-KR" altLang="en-US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수료인원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AX Hub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이용정보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, AI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데이터 연계 정보 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협의중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842620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DataHub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연계가 불필요하거나 불가능한 경우 어떻게 하나요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데이터 관련 가이드는 추후 공지 예정입니다</a:t>
                      </a:r>
                      <a:endParaRPr lang="ko-KR" sz="1050" b="0" kern="100" dirty="0">
                        <a:solidFill>
                          <a:srgbClr val="FF0000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990356"/>
                  </a:ext>
                </a:extLst>
              </a:tr>
              <a:tr h="440979">
                <a:tc vMerge="1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endParaRPr lang="ko-KR" sz="100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데이터 등급 정보는 어떤 것을 입력하나요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endParaRPr lang="ko-KR" sz="1400" b="0" kern="100" dirty="0">
                        <a:solidFill>
                          <a:srgbClr val="C00000"/>
                        </a:solidFill>
                        <a:effectLst/>
                        <a:latin typeface="SamsungOneKoreanOTF 400" panose="020B0503030303020204" pitchFamily="34" charset="-127"/>
                        <a:ea typeface="SamsungOneKoreanOTF 400" panose="020B05030303030202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707156"/>
                  </a:ext>
                </a:extLst>
              </a:tr>
              <a:tr h="385753">
                <a:tc rowSpan="2">
                  <a:txBody>
                    <a:bodyPr/>
                    <a:lstStyle/>
                    <a:p>
                      <a:pPr indent="0" algn="ctr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기타</a:t>
                      </a:r>
                      <a:endParaRPr lang="en-US" altLang="ko-KR" sz="1050" b="0" kern="100" dirty="0" smtClean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Crew 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지원 혜택은 어떤 것들이 있나요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「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외부 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서비스 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구독비</a:t>
                      </a:r>
                      <a:r>
                        <a:rPr lang="ko-KR" altLang="en-US" sz="1050" dirty="0" err="1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」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와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5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「</a:t>
                      </a:r>
                      <a:r>
                        <a:rPr lang="en-US" altLang="ko-KR" sz="1050" dirty="0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AI 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Crew 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활동비</a:t>
                      </a:r>
                      <a:r>
                        <a:rPr lang="ko-KR" altLang="en-US" sz="1050" dirty="0" err="1" smtClean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」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가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지원됩니다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별도 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공유드린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‘AI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Crew 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비용 정산 가이드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’ 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참고 바랍니다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. 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503644"/>
                  </a:ext>
                </a:extLst>
              </a:tr>
              <a:tr h="385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720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AI Crew </a:t>
                      </a:r>
                      <a:r>
                        <a:rPr lang="ko-KR" altLang="en-US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변경시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어떻게 해야 하나요</a:t>
                      </a:r>
                      <a:r>
                        <a:rPr lang="en-US" altLang="ko-KR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?</a:t>
                      </a:r>
                      <a:endParaRPr lang="ko-KR" alt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19055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72000" algn="l" latinLnBrk="1">
                        <a:spcAft>
                          <a:spcPts val="0"/>
                        </a:spcAft>
                      </a:pP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부서 </a:t>
                      </a:r>
                      <a:r>
                        <a:rPr lang="ko-KR" altLang="en-US" sz="1050" b="0" kern="100" dirty="0" err="1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전배나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휴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퇴직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限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변경 가능하며 </a:t>
                      </a:r>
                      <a:r>
                        <a:rPr lang="en-US" altLang="ko-KR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AX</a:t>
                      </a:r>
                      <a:r>
                        <a:rPr lang="ko-KR" altLang="en-US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050" b="0" kern="100" baseline="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PM </a:t>
                      </a:r>
                      <a:r>
                        <a:rPr lang="ko-KR" altLang="en-US" sz="1050" b="0" kern="100" dirty="0" smtClean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그룹으로 </a:t>
                      </a:r>
                      <a:r>
                        <a:rPr lang="ko-KR" altLang="en-US" sz="1050" b="0" kern="100" dirty="0" err="1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연락주시기</a:t>
                      </a:r>
                      <a:r>
                        <a:rPr lang="ko-KR" altLang="en-US" sz="1050" b="0" kern="100" dirty="0">
                          <a:solidFill>
                            <a:schemeClr val="tx1"/>
                          </a:solidFill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Times New Roman" panose="02020603050405020304" pitchFamily="18" charset="0"/>
                        </a:rPr>
                        <a:t> 바랍니다</a:t>
                      </a:r>
                      <a:endParaRPr lang="ko-KR" sz="1050" b="0" kern="100" dirty="0">
                        <a:solidFill>
                          <a:schemeClr val="tx1"/>
                        </a:solidFill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Times New Roman" panose="02020603050405020304" pitchFamily="18" charset="0"/>
                      </a:endParaRPr>
                    </a:p>
                  </a:txBody>
                  <a:tcPr marL="72000" marR="19055" marT="9361" marB="936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13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06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84380" cy="7573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 txBox="1">
            <a:spLocks/>
          </p:cNvSpPr>
          <p:nvPr/>
        </p:nvSpPr>
        <p:spPr>
          <a:xfrm>
            <a:off x="345353" y="73888"/>
            <a:ext cx="8174971" cy="757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3200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추진 프로세스 가이드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A85FD04-1088-454C-9D73-FD08FF998D32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>
            <a:off x="5889149" y="3064394"/>
            <a:ext cx="0" cy="16697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0">
            <a:extLst>
              <a:ext uri="{FF2B5EF4-FFF2-40B4-BE49-F238E27FC236}">
                <a16:creationId xmlns:a16="http://schemas.microsoft.com/office/drawing/2014/main" id="{282825EE-7F1E-4828-AB15-52B5C209E4C0}"/>
              </a:ext>
            </a:extLst>
          </p:cNvPr>
          <p:cNvSpPr/>
          <p:nvPr/>
        </p:nvSpPr>
        <p:spPr>
          <a:xfrm>
            <a:off x="279399" y="1189058"/>
            <a:ext cx="9800343" cy="5250049"/>
          </a:xfrm>
          <a:prstGeom prst="roundRect">
            <a:avLst>
              <a:gd name="adj" fmla="val 1212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 </a:t>
            </a:r>
            <a:r>
              <a:rPr lang="ko-KR" altLang="en-US" sz="11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추진 프로세스</a:t>
            </a:r>
          </a:p>
        </p:txBody>
      </p:sp>
      <p:sp>
        <p:nvSpPr>
          <p:cNvPr id="9" name="사각형: 둥근 모서리 81">
            <a:extLst>
              <a:ext uri="{FF2B5EF4-FFF2-40B4-BE49-F238E27FC236}">
                <a16:creationId xmlns:a16="http://schemas.microsoft.com/office/drawing/2014/main" id="{767F8EEB-BE3A-433F-A45D-66C0DB76231C}"/>
              </a:ext>
            </a:extLst>
          </p:cNvPr>
          <p:cNvSpPr/>
          <p:nvPr/>
        </p:nvSpPr>
        <p:spPr>
          <a:xfrm>
            <a:off x="10245824" y="1189058"/>
            <a:ext cx="1620696" cy="5250051"/>
          </a:xfrm>
          <a:prstGeom prst="roundRect">
            <a:avLst>
              <a:gd name="adj" fmla="val 3882"/>
            </a:avLst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r>
              <a:rPr lang="ko-KR" altLang="en-US" sz="105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外  타  프로세스</a:t>
            </a:r>
          </a:p>
        </p:txBody>
      </p:sp>
      <p:sp>
        <p:nvSpPr>
          <p:cNvPr id="10" name="사각형: 둥근 모서리 82">
            <a:extLst>
              <a:ext uri="{FF2B5EF4-FFF2-40B4-BE49-F238E27FC236}">
                <a16:creationId xmlns:a16="http://schemas.microsoft.com/office/drawing/2014/main" id="{DB08FA09-CE7C-4763-90C7-309EC219C4B5}"/>
              </a:ext>
            </a:extLst>
          </p:cNvPr>
          <p:cNvSpPr/>
          <p:nvPr/>
        </p:nvSpPr>
        <p:spPr>
          <a:xfrm>
            <a:off x="10350284" y="4454494"/>
            <a:ext cx="1420828" cy="189886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N-IRP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0A65C-8910-4661-9D5D-0DA6287D9FFA}"/>
              </a:ext>
            </a:extLst>
          </p:cNvPr>
          <p:cNvSpPr txBox="1"/>
          <p:nvPr/>
        </p:nvSpPr>
        <p:spPr>
          <a:xfrm>
            <a:off x="10604665" y="2269376"/>
            <a:ext cx="884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* 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외주 제작 限</a:t>
            </a:r>
          </a:p>
        </p:txBody>
      </p:sp>
      <p:sp>
        <p:nvSpPr>
          <p:cNvPr id="13" name="사각형: 둥근 모서리 83">
            <a:extLst>
              <a:ext uri="{FF2B5EF4-FFF2-40B4-BE49-F238E27FC236}">
                <a16:creationId xmlns:a16="http://schemas.microsoft.com/office/drawing/2014/main" id="{BA455CFC-3EBD-489E-8D5C-15B49A784F9D}"/>
              </a:ext>
            </a:extLst>
          </p:cNvPr>
          <p:cNvSpPr/>
          <p:nvPr/>
        </p:nvSpPr>
        <p:spPr>
          <a:xfrm>
            <a:off x="10329022" y="1594884"/>
            <a:ext cx="1420828" cy="1282786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BQMS/</a:t>
            </a:r>
            <a:r>
              <a:rPr lang="ko-KR" altLang="en-US" sz="11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계약</a:t>
            </a:r>
            <a:endParaRPr lang="en-US" altLang="ko-KR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5B984-7CA1-4DB0-9EE2-457495DA24E3}"/>
              </a:ext>
            </a:extLst>
          </p:cNvPr>
          <p:cNvSpPr txBox="1"/>
          <p:nvPr/>
        </p:nvSpPr>
        <p:spPr>
          <a:xfrm>
            <a:off x="10624516" y="5459999"/>
            <a:ext cx="9197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* 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정보화 과제 限</a:t>
            </a:r>
          </a:p>
        </p:txBody>
      </p:sp>
      <p:sp>
        <p:nvSpPr>
          <p:cNvPr id="15" name="사각형: 둥근 모서리 88">
            <a:extLst>
              <a:ext uri="{FF2B5EF4-FFF2-40B4-BE49-F238E27FC236}">
                <a16:creationId xmlns:a16="http://schemas.microsoft.com/office/drawing/2014/main" id="{9509B8FF-41E9-4F80-B0DF-E42D5F48EF36}"/>
              </a:ext>
            </a:extLst>
          </p:cNvPr>
          <p:cNvSpPr/>
          <p:nvPr/>
        </p:nvSpPr>
        <p:spPr>
          <a:xfrm>
            <a:off x="10350284" y="3012892"/>
            <a:ext cx="1420828" cy="1321149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예산 반영 </a:t>
            </a:r>
            <a:endParaRPr lang="en-US" altLang="ko-KR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품의 상신</a:t>
            </a:r>
            <a:endParaRPr lang="en-US" altLang="ko-KR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EFF2F-A374-4E3E-AAAD-451DA5E0C7E4}"/>
              </a:ext>
            </a:extLst>
          </p:cNvPr>
          <p:cNvSpPr txBox="1"/>
          <p:nvPr/>
        </p:nvSpPr>
        <p:spPr>
          <a:xfrm>
            <a:off x="10463639" y="3824487"/>
            <a:ext cx="1241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*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예산 반영 필요 시 限</a:t>
            </a:r>
          </a:p>
        </p:txBody>
      </p:sp>
      <p:sp>
        <p:nvSpPr>
          <p:cNvPr id="18" name="사각형: 둥근 모서리 1">
            <a:extLst>
              <a:ext uri="{FF2B5EF4-FFF2-40B4-BE49-F238E27FC236}">
                <a16:creationId xmlns:a16="http://schemas.microsoft.com/office/drawing/2014/main" id="{B9BFF7BE-0C3D-4670-8D3D-1D515EF500F3}"/>
              </a:ext>
            </a:extLst>
          </p:cNvPr>
          <p:cNvSpPr/>
          <p:nvPr/>
        </p:nvSpPr>
        <p:spPr>
          <a:xfrm>
            <a:off x="10402644" y="1548286"/>
            <a:ext cx="622935" cy="169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병형 진행</a:t>
            </a:r>
          </a:p>
        </p:txBody>
      </p:sp>
      <p:sp>
        <p:nvSpPr>
          <p:cNvPr id="19" name="사각형: 둥근 모서리 97">
            <a:extLst>
              <a:ext uri="{FF2B5EF4-FFF2-40B4-BE49-F238E27FC236}">
                <a16:creationId xmlns:a16="http://schemas.microsoft.com/office/drawing/2014/main" id="{9E0DEB40-1D05-4A7A-9CA2-44C76042847F}"/>
              </a:ext>
            </a:extLst>
          </p:cNvPr>
          <p:cNvSpPr/>
          <p:nvPr/>
        </p:nvSpPr>
        <p:spPr>
          <a:xfrm>
            <a:off x="10423906" y="2948384"/>
            <a:ext cx="622935" cy="169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병형 진행</a:t>
            </a:r>
          </a:p>
        </p:txBody>
      </p:sp>
      <p:sp>
        <p:nvSpPr>
          <p:cNvPr id="20" name="사각형: 둥근 모서리 98">
            <a:extLst>
              <a:ext uri="{FF2B5EF4-FFF2-40B4-BE49-F238E27FC236}">
                <a16:creationId xmlns:a16="http://schemas.microsoft.com/office/drawing/2014/main" id="{B8FBEB50-30EB-414F-9ACC-F4C348EC85C3}"/>
              </a:ext>
            </a:extLst>
          </p:cNvPr>
          <p:cNvSpPr/>
          <p:nvPr/>
        </p:nvSpPr>
        <p:spPr>
          <a:xfrm>
            <a:off x="10423906" y="4419788"/>
            <a:ext cx="622935" cy="169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병형 진행</a:t>
            </a:r>
          </a:p>
        </p:txBody>
      </p:sp>
      <p:sp>
        <p:nvSpPr>
          <p:cNvPr id="21" name="사각형: 둥근 모서리 67">
            <a:extLst>
              <a:ext uri="{FF2B5EF4-FFF2-40B4-BE49-F238E27FC236}">
                <a16:creationId xmlns:a16="http://schemas.microsoft.com/office/drawing/2014/main" id="{7E0CBA2B-00A9-4638-A52D-B88C54C47D7A}"/>
              </a:ext>
            </a:extLst>
          </p:cNvPr>
          <p:cNvSpPr/>
          <p:nvPr/>
        </p:nvSpPr>
        <p:spPr>
          <a:xfrm>
            <a:off x="472490" y="1622678"/>
            <a:ext cx="1606687" cy="213342"/>
          </a:xfrm>
          <a:prstGeom prst="roundRect">
            <a:avLst>
              <a:gd name="adj" fmla="val 50000"/>
            </a:avLst>
          </a:prstGeom>
          <a:solidFill>
            <a:srgbClr val="FDF2EA"/>
          </a:solidFill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등록</a:t>
            </a:r>
          </a:p>
        </p:txBody>
      </p:sp>
      <p:sp>
        <p:nvSpPr>
          <p:cNvPr id="22" name="사각형: 둥근 모서리 68">
            <a:extLst>
              <a:ext uri="{FF2B5EF4-FFF2-40B4-BE49-F238E27FC236}">
                <a16:creationId xmlns:a16="http://schemas.microsoft.com/office/drawing/2014/main" id="{5E82ED12-5E10-41AB-A578-DBA1FB3574E0}"/>
              </a:ext>
            </a:extLst>
          </p:cNvPr>
          <p:cNvSpPr/>
          <p:nvPr/>
        </p:nvSpPr>
        <p:spPr>
          <a:xfrm>
            <a:off x="2594340" y="1603192"/>
            <a:ext cx="3294809" cy="2373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사전 심의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82A016A-7646-4752-8E3E-46F163BABDE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2079177" y="1721848"/>
            <a:ext cx="515163" cy="75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860381-0A84-4E9E-BDC9-30371F7DC171}"/>
              </a:ext>
            </a:extLst>
          </p:cNvPr>
          <p:cNvSpPr txBox="1"/>
          <p:nvPr/>
        </p:nvSpPr>
        <p:spPr>
          <a:xfrm>
            <a:off x="2957633" y="1387440"/>
            <a:ext cx="2730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* 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일반과제 여부는 전사 </a:t>
            </a:r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팀에서 사전 심의 후 </a:t>
            </a:r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차 결정</a:t>
            </a:r>
          </a:p>
        </p:txBody>
      </p:sp>
      <p:sp>
        <p:nvSpPr>
          <p:cNvPr id="25" name="사각형: 둥근 모서리 74">
            <a:extLst>
              <a:ext uri="{FF2B5EF4-FFF2-40B4-BE49-F238E27FC236}">
                <a16:creationId xmlns:a16="http://schemas.microsoft.com/office/drawing/2014/main" id="{BF89A7AB-7171-46F3-B295-F7151F9AEE18}"/>
              </a:ext>
            </a:extLst>
          </p:cNvPr>
          <p:cNvSpPr/>
          <p:nvPr/>
        </p:nvSpPr>
        <p:spPr>
          <a:xfrm>
            <a:off x="1625442" y="5414477"/>
            <a:ext cx="2170903" cy="242643"/>
          </a:xfrm>
          <a:prstGeom prst="roundRect">
            <a:avLst/>
          </a:prstGeom>
          <a:solidFill>
            <a:srgbClr val="FDF2EA"/>
          </a:solidFill>
          <a:ln>
            <a:solidFill>
              <a:srgbClr val="0E0E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외부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 심의 품의 상신</a:t>
            </a:r>
          </a:p>
        </p:txBody>
      </p:sp>
      <p:sp>
        <p:nvSpPr>
          <p:cNvPr id="26" name="사각형: 둥근 모서리 84">
            <a:extLst>
              <a:ext uri="{FF2B5EF4-FFF2-40B4-BE49-F238E27FC236}">
                <a16:creationId xmlns:a16="http://schemas.microsoft.com/office/drawing/2014/main" id="{69ACC557-DC9B-45C7-99E1-45C688B9323F}"/>
              </a:ext>
            </a:extLst>
          </p:cNvPr>
          <p:cNvSpPr/>
          <p:nvPr/>
        </p:nvSpPr>
        <p:spPr>
          <a:xfrm>
            <a:off x="1855300" y="3524605"/>
            <a:ext cx="1606687" cy="24264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ROI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검토</a:t>
            </a:r>
          </a:p>
        </p:txBody>
      </p:sp>
      <p:sp>
        <p:nvSpPr>
          <p:cNvPr id="27" name="사각형: 둥근 모서리 85">
            <a:extLst>
              <a:ext uri="{FF2B5EF4-FFF2-40B4-BE49-F238E27FC236}">
                <a16:creationId xmlns:a16="http://schemas.microsoft.com/office/drawing/2014/main" id="{0B0A5649-E3A7-4FD5-87A7-7C2939220E96}"/>
              </a:ext>
            </a:extLst>
          </p:cNvPr>
          <p:cNvSpPr/>
          <p:nvPr/>
        </p:nvSpPr>
        <p:spPr>
          <a:xfrm>
            <a:off x="1855300" y="4734179"/>
            <a:ext cx="1606687" cy="24264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보안 검토 </a:t>
            </a:r>
          </a:p>
        </p:txBody>
      </p:sp>
      <p:sp>
        <p:nvSpPr>
          <p:cNvPr id="28" name="사각형: 둥근 모서리 87">
            <a:extLst>
              <a:ext uri="{FF2B5EF4-FFF2-40B4-BE49-F238E27FC236}">
                <a16:creationId xmlns:a16="http://schemas.microsoft.com/office/drawing/2014/main" id="{FE680EB2-58F1-408C-90C7-02189E8C98BB}"/>
              </a:ext>
            </a:extLst>
          </p:cNvPr>
          <p:cNvSpPr/>
          <p:nvPr/>
        </p:nvSpPr>
        <p:spPr>
          <a:xfrm>
            <a:off x="1855300" y="2814380"/>
            <a:ext cx="1606687" cy="250014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타당성 검토</a:t>
            </a:r>
          </a:p>
        </p:txBody>
      </p:sp>
      <p:sp>
        <p:nvSpPr>
          <p:cNvPr id="29" name="다이아몬드 28">
            <a:extLst>
              <a:ext uri="{FF2B5EF4-FFF2-40B4-BE49-F238E27FC236}">
                <a16:creationId xmlns:a16="http://schemas.microsoft.com/office/drawing/2014/main" id="{0B51192C-E031-4663-B40F-965EC913688E}"/>
              </a:ext>
            </a:extLst>
          </p:cNvPr>
          <p:cNvSpPr/>
          <p:nvPr/>
        </p:nvSpPr>
        <p:spPr>
          <a:xfrm>
            <a:off x="1989156" y="2113297"/>
            <a:ext cx="1316939" cy="441713"/>
          </a:xfrm>
          <a:prstGeom prst="diamond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외부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여부</a:t>
            </a:r>
            <a:endParaRPr lang="en-US" altLang="ko-KR" sz="9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0" name="사각형: 둥근 모서리 101">
            <a:extLst>
              <a:ext uri="{FF2B5EF4-FFF2-40B4-BE49-F238E27FC236}">
                <a16:creationId xmlns:a16="http://schemas.microsoft.com/office/drawing/2014/main" id="{6BAA1BED-8DE0-4ED7-A1F6-87EE3E854A2F}"/>
              </a:ext>
            </a:extLst>
          </p:cNvPr>
          <p:cNvSpPr/>
          <p:nvPr/>
        </p:nvSpPr>
        <p:spPr>
          <a:xfrm>
            <a:off x="497822" y="2218737"/>
            <a:ext cx="1215691" cy="230832"/>
          </a:xfrm>
          <a:prstGeom prst="roundRect">
            <a:avLst>
              <a:gd name="adj" fmla="val 50000"/>
            </a:avLst>
          </a:prstGeom>
          <a:solidFill>
            <a:srgbClr val="FDF2EA"/>
          </a:solidFill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구축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운영</a:t>
            </a:r>
          </a:p>
        </p:txBody>
      </p:sp>
      <p:sp>
        <p:nvSpPr>
          <p:cNvPr id="31" name="사각형: 둥근 모서리 104">
            <a:extLst>
              <a:ext uri="{FF2B5EF4-FFF2-40B4-BE49-F238E27FC236}">
                <a16:creationId xmlns:a16="http://schemas.microsoft.com/office/drawing/2014/main" id="{5B158CC7-2947-44D2-8F18-5DED55B71C17}"/>
              </a:ext>
            </a:extLst>
          </p:cNvPr>
          <p:cNvSpPr/>
          <p:nvPr/>
        </p:nvSpPr>
        <p:spPr>
          <a:xfrm>
            <a:off x="5086349" y="3524605"/>
            <a:ext cx="1605600" cy="24264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4. ROI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검토</a:t>
            </a:r>
          </a:p>
        </p:txBody>
      </p:sp>
      <p:sp>
        <p:nvSpPr>
          <p:cNvPr id="32" name="사각형: 둥근 모서리 106">
            <a:extLst>
              <a:ext uri="{FF2B5EF4-FFF2-40B4-BE49-F238E27FC236}">
                <a16:creationId xmlns:a16="http://schemas.microsoft.com/office/drawing/2014/main" id="{3BF744C0-6C1F-453A-A770-A38772DC2B2F}"/>
              </a:ext>
            </a:extLst>
          </p:cNvPr>
          <p:cNvSpPr/>
          <p:nvPr/>
        </p:nvSpPr>
        <p:spPr>
          <a:xfrm>
            <a:off x="5086349" y="2814380"/>
            <a:ext cx="1605600" cy="250014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타당성 검토</a:t>
            </a:r>
          </a:p>
        </p:txBody>
      </p:sp>
      <p:sp>
        <p:nvSpPr>
          <p:cNvPr id="33" name="다이아몬드 32">
            <a:extLst>
              <a:ext uri="{FF2B5EF4-FFF2-40B4-BE49-F238E27FC236}">
                <a16:creationId xmlns:a16="http://schemas.microsoft.com/office/drawing/2014/main" id="{DDFC556C-E007-4ECD-BE77-30D1EB69B969}"/>
              </a:ext>
            </a:extLst>
          </p:cNvPr>
          <p:cNvSpPr/>
          <p:nvPr/>
        </p:nvSpPr>
        <p:spPr>
          <a:xfrm>
            <a:off x="5245417" y="3982225"/>
            <a:ext cx="1331151" cy="441713"/>
          </a:xfrm>
          <a:prstGeom prst="diamond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외부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활용 여부</a:t>
            </a:r>
            <a:endParaRPr lang="en-US" altLang="ko-KR" sz="9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4" name="사각형: 둥근 모서리 113">
            <a:extLst>
              <a:ext uri="{FF2B5EF4-FFF2-40B4-BE49-F238E27FC236}">
                <a16:creationId xmlns:a16="http://schemas.microsoft.com/office/drawing/2014/main" id="{37E9243C-0166-40B0-987A-1005A214825C}"/>
              </a:ext>
            </a:extLst>
          </p:cNvPr>
          <p:cNvSpPr/>
          <p:nvPr/>
        </p:nvSpPr>
        <p:spPr>
          <a:xfrm>
            <a:off x="4855722" y="5399986"/>
            <a:ext cx="2171320" cy="242643"/>
          </a:xfrm>
          <a:prstGeom prst="roundRect">
            <a:avLst/>
          </a:prstGeom>
          <a:solidFill>
            <a:srgbClr val="FDF2EA"/>
          </a:solidFill>
          <a:ln>
            <a:solidFill>
              <a:srgbClr val="0E0E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6.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외부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생성형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보안 심의 품의 상신</a:t>
            </a:r>
          </a:p>
        </p:txBody>
      </p:sp>
      <p:sp>
        <p:nvSpPr>
          <p:cNvPr id="35" name="사각형: 둥근 모서리 118">
            <a:extLst>
              <a:ext uri="{FF2B5EF4-FFF2-40B4-BE49-F238E27FC236}">
                <a16:creationId xmlns:a16="http://schemas.microsoft.com/office/drawing/2014/main" id="{109E2CFF-82DE-4652-BD5B-9957A50C286C}"/>
              </a:ext>
            </a:extLst>
          </p:cNvPr>
          <p:cNvSpPr/>
          <p:nvPr/>
        </p:nvSpPr>
        <p:spPr>
          <a:xfrm>
            <a:off x="5086349" y="4734179"/>
            <a:ext cx="1605600" cy="242643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5.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데이터 보안 검토 </a:t>
            </a:r>
          </a:p>
        </p:txBody>
      </p:sp>
      <p:sp>
        <p:nvSpPr>
          <p:cNvPr id="36" name="사각형: 둥근 모서리 125">
            <a:extLst>
              <a:ext uri="{FF2B5EF4-FFF2-40B4-BE49-F238E27FC236}">
                <a16:creationId xmlns:a16="http://schemas.microsoft.com/office/drawing/2014/main" id="{1685E357-3C6A-4EDC-8581-940D503C8234}"/>
              </a:ext>
            </a:extLst>
          </p:cNvPr>
          <p:cNvSpPr/>
          <p:nvPr/>
        </p:nvSpPr>
        <p:spPr>
          <a:xfrm>
            <a:off x="8102365" y="3282630"/>
            <a:ext cx="1850859" cy="252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8.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부문 심의</a:t>
            </a:r>
          </a:p>
        </p:txBody>
      </p:sp>
      <p:sp>
        <p:nvSpPr>
          <p:cNvPr id="37" name="사각형: 둥근 모서리 126">
            <a:extLst>
              <a:ext uri="{FF2B5EF4-FFF2-40B4-BE49-F238E27FC236}">
                <a16:creationId xmlns:a16="http://schemas.microsoft.com/office/drawing/2014/main" id="{9F5C9141-07D1-450D-9CD0-67528D296F45}"/>
              </a:ext>
            </a:extLst>
          </p:cNvPr>
          <p:cNvSpPr/>
          <p:nvPr/>
        </p:nvSpPr>
        <p:spPr>
          <a:xfrm>
            <a:off x="8102365" y="3985632"/>
            <a:ext cx="1850859" cy="252000"/>
          </a:xfrm>
          <a:prstGeom prst="roundRect">
            <a:avLst/>
          </a:prstGeom>
          <a:solidFill>
            <a:srgbClr val="FDF2EA"/>
          </a:solidFill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9. AX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과제추진 심의 품의 상신</a:t>
            </a:r>
          </a:p>
        </p:txBody>
      </p:sp>
      <p:sp>
        <p:nvSpPr>
          <p:cNvPr id="38" name="사각형: 둥근 모서리 128">
            <a:extLst>
              <a:ext uri="{FF2B5EF4-FFF2-40B4-BE49-F238E27FC236}">
                <a16:creationId xmlns:a16="http://schemas.microsoft.com/office/drawing/2014/main" id="{580875CB-14F6-4595-A954-32F889062032}"/>
              </a:ext>
            </a:extLst>
          </p:cNvPr>
          <p:cNvSpPr/>
          <p:nvPr/>
        </p:nvSpPr>
        <p:spPr>
          <a:xfrm>
            <a:off x="8102364" y="6018248"/>
            <a:ext cx="1850860" cy="252000"/>
          </a:xfrm>
          <a:prstGeom prst="roundRect">
            <a:avLst>
              <a:gd name="adj" fmla="val 50000"/>
            </a:avLst>
          </a:prstGeom>
          <a:solidFill>
            <a:srgbClr val="FDF2EA"/>
          </a:solidFill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월간 실적 입력</a:t>
            </a:r>
          </a:p>
        </p:txBody>
      </p:sp>
      <p:sp>
        <p:nvSpPr>
          <p:cNvPr id="39" name="사각형: 둥근 모서리 130">
            <a:extLst>
              <a:ext uri="{FF2B5EF4-FFF2-40B4-BE49-F238E27FC236}">
                <a16:creationId xmlns:a16="http://schemas.microsoft.com/office/drawing/2014/main" id="{52D8D156-1B01-49CC-A30F-90BD66131B55}"/>
              </a:ext>
            </a:extLst>
          </p:cNvPr>
          <p:cNvSpPr/>
          <p:nvPr/>
        </p:nvSpPr>
        <p:spPr>
          <a:xfrm>
            <a:off x="8116389" y="4688634"/>
            <a:ext cx="1822811" cy="252000"/>
          </a:xfrm>
          <a:prstGeom prst="roundRect">
            <a:avLst/>
          </a:prstGeom>
          <a:solidFill>
            <a:srgbClr val="FDF2EA"/>
          </a:solidFill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구축 및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QA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모니터링</a:t>
            </a:r>
          </a:p>
        </p:txBody>
      </p:sp>
      <p:sp>
        <p:nvSpPr>
          <p:cNvPr id="40" name="사각형: 둥근 모서리 134">
            <a:extLst>
              <a:ext uri="{FF2B5EF4-FFF2-40B4-BE49-F238E27FC236}">
                <a16:creationId xmlns:a16="http://schemas.microsoft.com/office/drawing/2014/main" id="{F44C6B50-F2BE-4217-90A1-7B0E8DC624B7}"/>
              </a:ext>
            </a:extLst>
          </p:cNvPr>
          <p:cNvSpPr/>
          <p:nvPr/>
        </p:nvSpPr>
        <p:spPr>
          <a:xfrm>
            <a:off x="8102365" y="5386460"/>
            <a:ext cx="1850859" cy="25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</a:t>
            </a:r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QA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완료 후 운영 전환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6FC7F7-3A7B-403C-9732-7FF17439DD68}"/>
              </a:ext>
            </a:extLst>
          </p:cNvPr>
          <p:cNvCxnSpPr>
            <a:cxnSpLocks/>
          </p:cNvCxnSpPr>
          <p:nvPr/>
        </p:nvCxnSpPr>
        <p:spPr>
          <a:xfrm>
            <a:off x="9020782" y="4237632"/>
            <a:ext cx="0" cy="451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02FFB71-445B-4A6E-856F-EB01435FFE3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2647626" y="2555010"/>
            <a:ext cx="11018" cy="259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DAF20F7-D25F-49C2-A5AF-D8EA796C9424}"/>
              </a:ext>
            </a:extLst>
          </p:cNvPr>
          <p:cNvCxnSpPr>
            <a:cxnSpLocks/>
          </p:cNvCxnSpPr>
          <p:nvPr/>
        </p:nvCxnSpPr>
        <p:spPr>
          <a:xfrm>
            <a:off x="9027795" y="3534630"/>
            <a:ext cx="0" cy="451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FFB1FCD-BF81-43E1-BE62-69E97F3C7BC8}"/>
              </a:ext>
            </a:extLst>
          </p:cNvPr>
          <p:cNvCxnSpPr>
            <a:cxnSpLocks/>
          </p:cNvCxnSpPr>
          <p:nvPr/>
        </p:nvCxnSpPr>
        <p:spPr>
          <a:xfrm>
            <a:off x="9020782" y="4940634"/>
            <a:ext cx="0" cy="445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C4001B3-AD0F-4A5E-A01B-380B6879A16D}"/>
              </a:ext>
            </a:extLst>
          </p:cNvPr>
          <p:cNvCxnSpPr>
            <a:cxnSpLocks/>
          </p:cNvCxnSpPr>
          <p:nvPr/>
        </p:nvCxnSpPr>
        <p:spPr>
          <a:xfrm flipH="1">
            <a:off x="9027794" y="5638460"/>
            <a:ext cx="1" cy="4039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626F74A-EFA2-4DC8-8118-AF0C446AF360}"/>
              </a:ext>
            </a:extLst>
          </p:cNvPr>
          <p:cNvSpPr txBox="1"/>
          <p:nvPr/>
        </p:nvSpPr>
        <p:spPr>
          <a:xfrm>
            <a:off x="2658642" y="2525840"/>
            <a:ext cx="4246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ACA30A-7EE4-42EE-9BE2-E93BEF5035A9}"/>
              </a:ext>
            </a:extLst>
          </p:cNvPr>
          <p:cNvSpPr txBox="1"/>
          <p:nvPr/>
        </p:nvSpPr>
        <p:spPr>
          <a:xfrm>
            <a:off x="1824868" y="2051394"/>
            <a:ext cx="386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906E89-F22A-4AF9-ABD1-41D9D4C5BE6F}"/>
              </a:ext>
            </a:extLst>
          </p:cNvPr>
          <p:cNvSpPr txBox="1"/>
          <p:nvPr/>
        </p:nvSpPr>
        <p:spPr>
          <a:xfrm>
            <a:off x="5856504" y="4408677"/>
            <a:ext cx="4214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964CCB-355D-44A6-8EAD-535EEA486A0A}"/>
              </a:ext>
            </a:extLst>
          </p:cNvPr>
          <p:cNvCxnSpPr>
            <a:cxnSpLocks/>
            <a:stCxn id="29" idx="1"/>
            <a:endCxn id="30" idx="3"/>
          </p:cNvCxnSpPr>
          <p:nvPr/>
        </p:nvCxnSpPr>
        <p:spPr>
          <a:xfrm flipH="1" flipV="1">
            <a:off x="1713513" y="2334153"/>
            <a:ext cx="27564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A2A96EBE-66CF-4E03-9304-95E5102F9389}"/>
              </a:ext>
            </a:extLst>
          </p:cNvPr>
          <p:cNvSpPr/>
          <p:nvPr/>
        </p:nvSpPr>
        <p:spPr>
          <a:xfrm>
            <a:off x="8779607" y="1548044"/>
            <a:ext cx="149289" cy="12369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88E15E5E-2119-4D56-97E1-DB40CD7F4BF3}"/>
              </a:ext>
            </a:extLst>
          </p:cNvPr>
          <p:cNvSpPr/>
          <p:nvPr/>
        </p:nvSpPr>
        <p:spPr>
          <a:xfrm>
            <a:off x="8779607" y="1300774"/>
            <a:ext cx="149289" cy="12369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5499C88-DFAF-4E3C-96E4-7E3DEBA293BE}"/>
              </a:ext>
            </a:extLst>
          </p:cNvPr>
          <p:cNvSpPr/>
          <p:nvPr/>
        </p:nvSpPr>
        <p:spPr>
          <a:xfrm>
            <a:off x="8779607" y="1904937"/>
            <a:ext cx="149289" cy="12369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C06855-1D47-4104-8445-94E1A29AB5E5}"/>
              </a:ext>
            </a:extLst>
          </p:cNvPr>
          <p:cNvSpPr txBox="1"/>
          <p:nvPr/>
        </p:nvSpPr>
        <p:spPr>
          <a:xfrm>
            <a:off x="8886192" y="1244031"/>
            <a:ext cx="8991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AI Crew</a:t>
            </a:r>
            <a:endParaRPr lang="ko-KR" altLang="en-US" sz="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F08503-6510-4FD6-A656-5FB07E88E851}"/>
              </a:ext>
            </a:extLst>
          </p:cNvPr>
          <p:cNvSpPr txBox="1"/>
          <p:nvPr/>
        </p:nvSpPr>
        <p:spPr>
          <a:xfrm>
            <a:off x="8886192" y="1484205"/>
            <a:ext cx="1291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사업부 </a:t>
            </a:r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 </a:t>
            </a:r>
            <a:endParaRPr lang="en-US" altLang="ko-KR" sz="800" b="1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  지원팀</a:t>
            </a:r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정보보호그룹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B5BA19-C803-45A2-8777-58BAB41CAA07}"/>
              </a:ext>
            </a:extLst>
          </p:cNvPr>
          <p:cNvSpPr txBox="1"/>
          <p:nvPr/>
        </p:nvSpPr>
        <p:spPr>
          <a:xfrm>
            <a:off x="8886192" y="1848194"/>
            <a:ext cx="8991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부문 </a:t>
            </a:r>
            <a:r>
              <a:rPr lang="en-US" altLang="ko-KR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r>
              <a:rPr lang="ko-KR" altLang="en-US" sz="8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팀</a:t>
            </a:r>
          </a:p>
        </p:txBody>
      </p:sp>
      <p:sp>
        <p:nvSpPr>
          <p:cNvPr id="56" name="사각형: 둥근 모서리 221">
            <a:extLst>
              <a:ext uri="{FF2B5EF4-FFF2-40B4-BE49-F238E27FC236}">
                <a16:creationId xmlns:a16="http://schemas.microsoft.com/office/drawing/2014/main" id="{9F839F89-5A04-4DF8-9C2B-81BF42825620}"/>
              </a:ext>
            </a:extLst>
          </p:cNvPr>
          <p:cNvSpPr/>
          <p:nvPr/>
        </p:nvSpPr>
        <p:spPr>
          <a:xfrm>
            <a:off x="3386373" y="6014090"/>
            <a:ext cx="1710741" cy="2454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7. </a:t>
            </a:r>
            <a:r>
              <a:rPr lang="ko-KR" altLang="en-US" sz="900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사업부 심의 협의체 검토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2F7CC4-4708-45AF-9EBD-E59B1FFAD9FD}"/>
              </a:ext>
            </a:extLst>
          </p:cNvPr>
          <p:cNvSpPr txBox="1"/>
          <p:nvPr/>
        </p:nvSpPr>
        <p:spPr>
          <a:xfrm>
            <a:off x="4995651" y="3987851"/>
            <a:ext cx="3861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71" name="연결선: 꺾임 96">
            <a:extLst>
              <a:ext uri="{FF2B5EF4-FFF2-40B4-BE49-F238E27FC236}">
                <a16:creationId xmlns:a16="http://schemas.microsoft.com/office/drawing/2014/main" id="{94469959-B0CE-4C8D-B372-A479AE5C0960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rot="5400000">
            <a:off x="3308289" y="1179841"/>
            <a:ext cx="272794" cy="159411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100">
            <a:extLst>
              <a:ext uri="{FF2B5EF4-FFF2-40B4-BE49-F238E27FC236}">
                <a16:creationId xmlns:a16="http://schemas.microsoft.com/office/drawing/2014/main" id="{29521B4A-B37B-44A4-92FC-AD39E0E9AD83}"/>
              </a:ext>
            </a:extLst>
          </p:cNvPr>
          <p:cNvCxnSpPr>
            <a:cxnSpLocks/>
            <a:stCxn id="22" idx="2"/>
            <a:endCxn id="32" idx="0"/>
          </p:cNvCxnSpPr>
          <p:nvPr/>
        </p:nvCxnSpPr>
        <p:spPr>
          <a:xfrm rot="16200000" flipH="1">
            <a:off x="4578509" y="1503739"/>
            <a:ext cx="973877" cy="1647404"/>
          </a:xfrm>
          <a:prstGeom prst="bentConnector3">
            <a:avLst>
              <a:gd name="adj1" fmla="val 1389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34968D2-B409-4D7E-84E4-AA97FEACFBF9}"/>
              </a:ext>
            </a:extLst>
          </p:cNvPr>
          <p:cNvSpPr txBox="1"/>
          <p:nvPr/>
        </p:nvSpPr>
        <p:spPr>
          <a:xfrm>
            <a:off x="3471309" y="1977795"/>
            <a:ext cx="6537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 과제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F7C632F-696A-4F17-9A8A-EFDF2588BFD8}"/>
              </a:ext>
            </a:extLst>
          </p:cNvPr>
          <p:cNvSpPr txBox="1"/>
          <p:nvPr/>
        </p:nvSpPr>
        <p:spPr>
          <a:xfrm>
            <a:off x="4466461" y="1977795"/>
            <a:ext cx="9098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핵심</a:t>
            </a:r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중점  과제</a:t>
            </a:r>
          </a:p>
        </p:txBody>
      </p:sp>
      <p:cxnSp>
        <p:nvCxnSpPr>
          <p:cNvPr id="75" name="연결선: 꺾임 135">
            <a:extLst>
              <a:ext uri="{FF2B5EF4-FFF2-40B4-BE49-F238E27FC236}">
                <a16:creationId xmlns:a16="http://schemas.microsoft.com/office/drawing/2014/main" id="{12FEEBB6-4ADD-4D21-9E7E-567F431FA1BF}"/>
              </a:ext>
            </a:extLst>
          </p:cNvPr>
          <p:cNvCxnSpPr>
            <a:cxnSpLocks/>
            <a:stCxn id="34" idx="2"/>
            <a:endCxn id="56" idx="0"/>
          </p:cNvCxnSpPr>
          <p:nvPr/>
        </p:nvCxnSpPr>
        <p:spPr>
          <a:xfrm rot="5400000">
            <a:off x="4905833" y="4978540"/>
            <a:ext cx="371461" cy="1699638"/>
          </a:xfrm>
          <a:prstGeom prst="bentConnector3">
            <a:avLst>
              <a:gd name="adj1" fmla="val 519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138">
            <a:extLst>
              <a:ext uri="{FF2B5EF4-FFF2-40B4-BE49-F238E27FC236}">
                <a16:creationId xmlns:a16="http://schemas.microsoft.com/office/drawing/2014/main" id="{7A32994A-7770-4C34-B755-841F18776DA6}"/>
              </a:ext>
            </a:extLst>
          </p:cNvPr>
          <p:cNvCxnSpPr>
            <a:cxnSpLocks/>
            <a:stCxn id="25" idx="2"/>
            <a:endCxn id="56" idx="0"/>
          </p:cNvCxnSpPr>
          <p:nvPr/>
        </p:nvCxnSpPr>
        <p:spPr>
          <a:xfrm rot="16200000" flipH="1">
            <a:off x="3297834" y="5070180"/>
            <a:ext cx="356970" cy="15308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143">
            <a:extLst>
              <a:ext uri="{FF2B5EF4-FFF2-40B4-BE49-F238E27FC236}">
                <a16:creationId xmlns:a16="http://schemas.microsoft.com/office/drawing/2014/main" id="{DEFA2650-E22B-4E83-AED9-ADE0A01EE981}"/>
              </a:ext>
            </a:extLst>
          </p:cNvPr>
          <p:cNvCxnSpPr>
            <a:cxnSpLocks/>
            <a:stCxn id="56" idx="3"/>
            <a:endCxn id="36" idx="1"/>
          </p:cNvCxnSpPr>
          <p:nvPr/>
        </p:nvCxnSpPr>
        <p:spPr>
          <a:xfrm flipV="1">
            <a:off x="5097114" y="3408630"/>
            <a:ext cx="3005251" cy="2728204"/>
          </a:xfrm>
          <a:prstGeom prst="bentConnector3">
            <a:avLst>
              <a:gd name="adj1" fmla="val 885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C6E2E688-67A5-4DD5-A36A-9406D25D5404}"/>
              </a:ext>
            </a:extLst>
          </p:cNvPr>
          <p:cNvCxnSpPr>
            <a:cxnSpLocks/>
          </p:cNvCxnSpPr>
          <p:nvPr/>
        </p:nvCxnSpPr>
        <p:spPr>
          <a:xfrm flipH="1">
            <a:off x="2658643" y="4976822"/>
            <a:ext cx="1" cy="437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132">
            <a:extLst>
              <a:ext uri="{FF2B5EF4-FFF2-40B4-BE49-F238E27FC236}">
                <a16:creationId xmlns:a16="http://schemas.microsoft.com/office/drawing/2014/main" id="{206D5221-A289-4F36-852F-469711695B2F}"/>
              </a:ext>
            </a:extLst>
          </p:cNvPr>
          <p:cNvCxnSpPr>
            <a:stCxn id="33" idx="1"/>
            <a:endCxn id="56" idx="0"/>
          </p:cNvCxnSpPr>
          <p:nvPr/>
        </p:nvCxnSpPr>
        <p:spPr>
          <a:xfrm rot="10800000" flipV="1">
            <a:off x="4241745" y="4203082"/>
            <a:ext cx="1003673" cy="181100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5CC045C-C32D-407B-8423-A15EFB456BAF}"/>
              </a:ext>
            </a:extLst>
          </p:cNvPr>
          <p:cNvCxnSpPr>
            <a:cxnSpLocks/>
          </p:cNvCxnSpPr>
          <p:nvPr/>
        </p:nvCxnSpPr>
        <p:spPr>
          <a:xfrm flipH="1">
            <a:off x="5889150" y="4980096"/>
            <a:ext cx="1" cy="423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188">
            <a:extLst>
              <a:ext uri="{FF2B5EF4-FFF2-40B4-BE49-F238E27FC236}">
                <a16:creationId xmlns:a16="http://schemas.microsoft.com/office/drawing/2014/main" id="{C2AD5D42-3FDA-4AF4-AE6E-1C6B8834B4C0}"/>
              </a:ext>
            </a:extLst>
          </p:cNvPr>
          <p:cNvCxnSpPr>
            <a:stCxn id="56" idx="1"/>
            <a:endCxn id="30" idx="2"/>
          </p:cNvCxnSpPr>
          <p:nvPr/>
        </p:nvCxnSpPr>
        <p:spPr>
          <a:xfrm rot="10800000">
            <a:off x="1105669" y="2449570"/>
            <a:ext cx="2280705" cy="368726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363724EF-D603-44CB-9D43-879CF2FA6844}"/>
              </a:ext>
            </a:extLst>
          </p:cNvPr>
          <p:cNvSpPr txBox="1"/>
          <p:nvPr/>
        </p:nvSpPr>
        <p:spPr>
          <a:xfrm>
            <a:off x="5278272" y="6141529"/>
            <a:ext cx="9098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핵심</a:t>
            </a:r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중점  과제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C200E65-9BF2-44B1-A01D-A9D8768930D3}"/>
              </a:ext>
            </a:extLst>
          </p:cNvPr>
          <p:cNvSpPr txBox="1"/>
          <p:nvPr/>
        </p:nvSpPr>
        <p:spPr>
          <a:xfrm>
            <a:off x="2443340" y="6141529"/>
            <a:ext cx="7370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일반 과제</a:t>
            </a:r>
          </a:p>
        </p:txBody>
      </p:sp>
      <p:sp>
        <p:nvSpPr>
          <p:cNvPr id="84" name="사각형: 둥근 모서리 249">
            <a:extLst>
              <a:ext uri="{FF2B5EF4-FFF2-40B4-BE49-F238E27FC236}">
                <a16:creationId xmlns:a16="http://schemas.microsoft.com/office/drawing/2014/main" id="{4FDFA0AF-83A3-44A9-858B-0F7493C978F8}"/>
              </a:ext>
            </a:extLst>
          </p:cNvPr>
          <p:cNvSpPr/>
          <p:nvPr/>
        </p:nvSpPr>
        <p:spPr>
          <a:xfrm>
            <a:off x="4960608" y="2733337"/>
            <a:ext cx="1845529" cy="2364376"/>
          </a:xfrm>
          <a:prstGeom prst="roundRect">
            <a:avLst>
              <a:gd name="adj" fmla="val 5039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5" name="사각형: 둥근 모서리 256">
            <a:extLst>
              <a:ext uri="{FF2B5EF4-FFF2-40B4-BE49-F238E27FC236}">
                <a16:creationId xmlns:a16="http://schemas.microsoft.com/office/drawing/2014/main" id="{BCFB4E13-C1C6-4479-9E82-D87F5854F5D5}"/>
              </a:ext>
            </a:extLst>
          </p:cNvPr>
          <p:cNvSpPr/>
          <p:nvPr/>
        </p:nvSpPr>
        <p:spPr>
          <a:xfrm>
            <a:off x="1725662" y="2729962"/>
            <a:ext cx="1845529" cy="2364376"/>
          </a:xfrm>
          <a:prstGeom prst="roundRect">
            <a:avLst>
              <a:gd name="adj" fmla="val 5039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6" name="사각형: 둥근 모서리 266">
            <a:extLst>
              <a:ext uri="{FF2B5EF4-FFF2-40B4-BE49-F238E27FC236}">
                <a16:creationId xmlns:a16="http://schemas.microsoft.com/office/drawing/2014/main" id="{AE79DF3B-9582-455E-841B-F88D29859584}"/>
              </a:ext>
            </a:extLst>
          </p:cNvPr>
          <p:cNvSpPr/>
          <p:nvPr/>
        </p:nvSpPr>
        <p:spPr>
          <a:xfrm>
            <a:off x="1475289" y="2853267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7" name="사각형: 둥근 모서리 267">
            <a:extLst>
              <a:ext uri="{FF2B5EF4-FFF2-40B4-BE49-F238E27FC236}">
                <a16:creationId xmlns:a16="http://schemas.microsoft.com/office/drawing/2014/main" id="{BD3FAF2B-646B-42AA-9B37-D247EE36DF96}"/>
              </a:ext>
            </a:extLst>
          </p:cNvPr>
          <p:cNvSpPr/>
          <p:nvPr/>
        </p:nvSpPr>
        <p:spPr>
          <a:xfrm>
            <a:off x="1475289" y="3562855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지원팀</a:t>
            </a:r>
          </a:p>
        </p:txBody>
      </p:sp>
      <p:sp>
        <p:nvSpPr>
          <p:cNvPr id="88" name="사각형: 둥근 모서리 268">
            <a:extLst>
              <a:ext uri="{FF2B5EF4-FFF2-40B4-BE49-F238E27FC236}">
                <a16:creationId xmlns:a16="http://schemas.microsoft.com/office/drawing/2014/main" id="{EFFB3F5A-62EF-447D-93FD-F09D18A5593C}"/>
              </a:ext>
            </a:extLst>
          </p:cNvPr>
          <p:cNvSpPr/>
          <p:nvPr/>
        </p:nvSpPr>
        <p:spPr>
          <a:xfrm>
            <a:off x="1475289" y="4767017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정보보호그룹</a:t>
            </a:r>
          </a:p>
        </p:txBody>
      </p:sp>
      <p:sp>
        <p:nvSpPr>
          <p:cNvPr id="89" name="사각형: 둥근 모서리 269">
            <a:extLst>
              <a:ext uri="{FF2B5EF4-FFF2-40B4-BE49-F238E27FC236}">
                <a16:creationId xmlns:a16="http://schemas.microsoft.com/office/drawing/2014/main" id="{2A008E5D-3E7F-44E0-A6F1-58962D362937}"/>
              </a:ext>
            </a:extLst>
          </p:cNvPr>
          <p:cNvSpPr/>
          <p:nvPr/>
        </p:nvSpPr>
        <p:spPr>
          <a:xfrm>
            <a:off x="4723847" y="2853267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AX</a:t>
            </a:r>
            <a:endParaRPr lang="ko-KR" altLang="en-US" sz="800" dirty="0">
              <a:solidFill>
                <a:srgbClr val="0000FF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0" name="사각형: 둥근 모서리 270">
            <a:extLst>
              <a:ext uri="{FF2B5EF4-FFF2-40B4-BE49-F238E27FC236}">
                <a16:creationId xmlns:a16="http://schemas.microsoft.com/office/drawing/2014/main" id="{DB103A98-7ECC-49F0-9E84-D11AFEAF83EF}"/>
              </a:ext>
            </a:extLst>
          </p:cNvPr>
          <p:cNvSpPr/>
          <p:nvPr/>
        </p:nvSpPr>
        <p:spPr>
          <a:xfrm>
            <a:off x="4737727" y="3562855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지원팀</a:t>
            </a:r>
          </a:p>
        </p:txBody>
      </p:sp>
      <p:sp>
        <p:nvSpPr>
          <p:cNvPr id="91" name="사각형: 둥근 모서리 271">
            <a:extLst>
              <a:ext uri="{FF2B5EF4-FFF2-40B4-BE49-F238E27FC236}">
                <a16:creationId xmlns:a16="http://schemas.microsoft.com/office/drawing/2014/main" id="{B0305D71-AE7D-48E9-95AD-39388EC0F9EB}"/>
              </a:ext>
            </a:extLst>
          </p:cNvPr>
          <p:cNvSpPr/>
          <p:nvPr/>
        </p:nvSpPr>
        <p:spPr>
          <a:xfrm>
            <a:off x="4712861" y="4767017"/>
            <a:ext cx="672331" cy="169544"/>
          </a:xfrm>
          <a:prstGeom prst="roundRect">
            <a:avLst/>
          </a:prstGeom>
          <a:noFill/>
          <a:ln>
            <a:solidFill>
              <a:srgbClr val="0E0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정보보호그룹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F28189C-3224-4D70-9046-20801C3B2FFD}"/>
              </a:ext>
            </a:extLst>
          </p:cNvPr>
          <p:cNvSpPr txBox="1"/>
          <p:nvPr/>
        </p:nvSpPr>
        <p:spPr>
          <a:xfrm>
            <a:off x="3678354" y="6245822"/>
            <a:ext cx="11267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* </a:t>
            </a:r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 분류 최종 결정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E5E7D6-FB3E-4802-85B0-9ABB8C86FE94}"/>
              </a:ext>
            </a:extLst>
          </p:cNvPr>
          <p:cNvCxnSpPr>
            <a:stCxn id="28" idx="2"/>
            <a:endCxn id="27" idx="0"/>
          </p:cNvCxnSpPr>
          <p:nvPr/>
        </p:nvCxnSpPr>
        <p:spPr>
          <a:xfrm>
            <a:off x="2658644" y="3064394"/>
            <a:ext cx="0" cy="16697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오른쪽 중괄호 93">
            <a:extLst>
              <a:ext uri="{FF2B5EF4-FFF2-40B4-BE49-F238E27FC236}">
                <a16:creationId xmlns:a16="http://schemas.microsoft.com/office/drawing/2014/main" id="{71C3646A-A6A0-42B2-8159-3101FADB66AF}"/>
              </a:ext>
            </a:extLst>
          </p:cNvPr>
          <p:cNvSpPr/>
          <p:nvPr/>
        </p:nvSpPr>
        <p:spPr>
          <a:xfrm>
            <a:off x="3592402" y="2729962"/>
            <a:ext cx="92144" cy="23643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5" name="오른쪽 중괄호 94">
            <a:extLst>
              <a:ext uri="{FF2B5EF4-FFF2-40B4-BE49-F238E27FC236}">
                <a16:creationId xmlns:a16="http://schemas.microsoft.com/office/drawing/2014/main" id="{EFF06AE7-2799-4718-9E60-0AC80FBDA64D}"/>
              </a:ext>
            </a:extLst>
          </p:cNvPr>
          <p:cNvSpPr/>
          <p:nvPr/>
        </p:nvSpPr>
        <p:spPr>
          <a:xfrm>
            <a:off x="6815483" y="2729962"/>
            <a:ext cx="92144" cy="23643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BD9FF7-0D9B-4FFD-B87D-773A693AC0E4}"/>
              </a:ext>
            </a:extLst>
          </p:cNvPr>
          <p:cNvSpPr txBox="1"/>
          <p:nvPr/>
        </p:nvSpPr>
        <p:spPr>
          <a:xfrm>
            <a:off x="3692974" y="3808285"/>
            <a:ext cx="803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병행 진행 可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84DE374-2214-4129-ACD3-8DD4BB708416}"/>
              </a:ext>
            </a:extLst>
          </p:cNvPr>
          <p:cNvSpPr txBox="1"/>
          <p:nvPr/>
        </p:nvSpPr>
        <p:spPr>
          <a:xfrm>
            <a:off x="6874578" y="3808285"/>
            <a:ext cx="803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병행 진행 可</a:t>
            </a:r>
          </a:p>
        </p:txBody>
      </p:sp>
    </p:spTree>
    <p:extLst>
      <p:ext uri="{BB962C8B-B14F-4D97-AF65-F5344CB8AC3E}">
        <p14:creationId xmlns:p14="http://schemas.microsoft.com/office/powerpoint/2010/main" val="16672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84380" cy="7573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2CD06E-EB43-4697-A9C1-290232C3BAD6}"/>
              </a:ext>
            </a:extLst>
          </p:cNvPr>
          <p:cNvSpPr txBox="1">
            <a:spLocks/>
          </p:cNvSpPr>
          <p:nvPr/>
        </p:nvSpPr>
        <p:spPr>
          <a:xfrm>
            <a:off x="345353" y="73888"/>
            <a:ext cx="8174971" cy="757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dirty="0" smtClean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 과제 메일 소식지 예시 참고</a:t>
            </a:r>
            <a:endParaRPr lang="ko-KR" altLang="en-US" sz="3200" dirty="0">
              <a:solidFill>
                <a:schemeClr val="bg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사각형: 둥근 모서리 83">
            <a:extLst>
              <a:ext uri="{FF2B5EF4-FFF2-40B4-BE49-F238E27FC236}">
                <a16:creationId xmlns:a16="http://schemas.microsoft.com/office/drawing/2014/main" id="{BA455CFC-3EBD-489E-8D5C-15B49A784F9D}"/>
              </a:ext>
            </a:extLst>
          </p:cNvPr>
          <p:cNvSpPr/>
          <p:nvPr/>
        </p:nvSpPr>
        <p:spPr>
          <a:xfrm>
            <a:off x="566815" y="1399215"/>
            <a:ext cx="2547734" cy="212316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부서內 새로운  </a:t>
            </a:r>
            <a:r>
              <a:rPr lang="en-US" altLang="ko-KR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AI </a:t>
            </a:r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과제의 소개나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과제의 </a:t>
            </a:r>
            <a:r>
              <a:rPr lang="ko-KR" altLang="en-US" sz="1100" dirty="0" err="1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진척현황</a:t>
            </a:r>
            <a:r>
              <a:rPr lang="en-US" altLang="ko-KR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운영 과제의 업무 활용 팁</a:t>
            </a:r>
            <a:r>
              <a:rPr lang="en-US" altLang="ko-KR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비용</a:t>
            </a:r>
            <a:r>
              <a:rPr lang="en-US" altLang="ko-KR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시간 절감 효과 등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endParaRPr lang="en-US" altLang="ko-KR" sz="1100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양식 제약 없이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 과제에 대해 </a:t>
            </a:r>
            <a:r>
              <a:rPr lang="ko-KR" altLang="en-US" sz="1100" dirty="0" err="1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부서원들에게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알리고 싶은 내용을 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100" dirty="0" smtClean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작성하여 내부 공유</a:t>
            </a:r>
            <a:endParaRPr lang="en-US" altLang="ko-KR" sz="1100" dirty="0" smtClean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776" y="1399215"/>
            <a:ext cx="3694137" cy="2034504"/>
          </a:xfrm>
          <a:prstGeom prst="rect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443" y="1399215"/>
            <a:ext cx="3718390" cy="2034504"/>
          </a:xfrm>
          <a:prstGeom prst="rect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5775" y="3852788"/>
            <a:ext cx="3694137" cy="2022603"/>
          </a:xfrm>
          <a:prstGeom prst="rect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2443" y="3852788"/>
            <a:ext cx="3718390" cy="2022603"/>
          </a:xfrm>
          <a:prstGeom prst="rect">
            <a:avLst/>
          </a:prstGeom>
          <a:ln w="12700">
            <a:solidFill>
              <a:schemeClr val="accent3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004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023227-530E-4024-91EF-312A851A758C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16c05727-aa75-4e4a-9b5f-8a80a1165891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27C19A7-3107-4CB2-BD0D-F7C79BE028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315AA3-EAE3-44ED-8368-BAC2FFFB48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985</Words>
  <Application>Microsoft Office PowerPoint</Application>
  <PresentationFormat>와이드스크린</PresentationFormat>
  <Paragraphs>150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G마켓 산스 TTF Medium</vt:lpstr>
      <vt:lpstr>SamsungOneKoreanOTF 500</vt:lpstr>
      <vt:lpstr>맑은 고딕</vt:lpstr>
      <vt:lpstr>Arial</vt:lpstr>
      <vt:lpstr>Calibri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2024-11-05T23:46:49Z</dcterms:created>
  <dcterms:modified xsi:type="dcterms:W3CDTF">2026-04-22T05:06:03Z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FLCMData">
    <vt:lpwstr>D234AE2429A324718FEC83814CB08B28F0854047CBB1A06EB030C5AB163B48AB105455D02B738B85EAB42E00D46794D470CAD671A21C0E6DE57BEC7852757A4E</vt:lpwstr>
  </property>
</Properties>
</file>